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3200" b="0" u="none" strike="noStrike">
                <a:solidFill>
                  <a:srgbClr val="000000"/>
                </a:solidFill>
                <a:effectLst/>
                <a:uFillTx/>
                <a:latin typeface="Arial"/>
              </a:defRPr>
            </a:lvl1pPr>
          </a:lstStyle>
          <a:p>
            <a:pPr indent="0" algn="l">
              <a:lnSpc>
                <a:spcPct val="100000"/>
              </a:lnSpc>
              <a:buNone/>
              <a:tabLst>
                <a:tab pos="0" algn="l"/>
              </a:tabLst>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3" name="PlaceHolder 2"/>
          <p:cNvSpPr>
            <a:spLocks noGrp="1"/>
          </p:cNvSpPr>
          <p:nvPr>
            <p:ph type="body"/>
          </p:nvPr>
        </p:nvSpPr>
        <p:spPr>
          <a:xfrm>
            <a:off x="5183280" y="987480"/>
            <a:ext cx="6171480" cy="4872960"/>
          </a:xfrm>
          <a:prstGeom prst="rect">
            <a:avLst/>
          </a:prstGeom>
          <a:noFill/>
          <a:ln w="0">
            <a:noFill/>
          </a:ln>
        </p:spPr>
        <p:txBody>
          <a:bodyPr lIns="90000" tIns="45000" rIns="90000" bIns="4500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rmAutofit lnSpcReduction="9999"/>
          </a:bodyPr>
          <a:lstStyle>
            <a:lvl1pPr algn="l">
              <a:lnSpc>
                <a:spcPct val="100000"/>
              </a:lnSpc>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5" name="PlaceHolder 4"/>
          <p:cNvSpPr>
            <a:spLocks noGrp="1"/>
          </p:cNvSpPr>
          <p:nvPr>
            <p:ph type="dt" idx="1"/>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5B626156-28C8-4C2E-AAFA-C9BD91A038DC}"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9" name="PlaceHolder 2"/>
          <p:cNvSpPr>
            <a:spLocks noGrp="1"/>
          </p:cNvSpPr>
          <p:nvPr>
            <p:ph type="body"/>
          </p:nvPr>
        </p:nvSpPr>
        <p:spPr>
          <a:xfrm rot="5400000">
            <a:off x="3920760" y="-1256040"/>
            <a:ext cx="4350600" cy="10514880"/>
          </a:xfrm>
          <a:prstGeom prst="rect">
            <a:avLst/>
          </a:prstGeom>
          <a:noFill/>
          <a:ln w="0">
            <a:noFill/>
          </a:ln>
        </p:spPr>
        <p:txBody>
          <a:bodyPr lIns="91440" tIns="45720" rIns="91440" bIns="45720" anchor="t">
            <a:norm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0" name="PlaceHolder 3"/>
          <p:cNvSpPr>
            <a:spLocks noGrp="1"/>
          </p:cNvSpPr>
          <p:nvPr>
            <p:ph type="dt" idx="4"/>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 name="PlaceHolder 4"/>
          <p:cNvSpPr>
            <a:spLocks noGrp="1"/>
          </p:cNvSpPr>
          <p:nvPr>
            <p:ph type="ftr" idx="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68CC5C8-4783-43FA-B893-ED93CAFD67E0}"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4"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rm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5" name="PlaceHolder 3"/>
          <p:cNvSpPr>
            <a:spLocks noGrp="1"/>
          </p:cNvSpPr>
          <p:nvPr>
            <p:ph type="dt" idx="7"/>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 name="PlaceHolder 5"/>
          <p:cNvSpPr>
            <a:spLocks noGrp="1"/>
          </p:cNvSpPr>
          <p:nvPr>
            <p:ph type="sldNum" idx="9"/>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F9DF33A-AA65-4596-BB69-BBEF84C0774E}"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rot="5400000">
            <a:off x="7133760" y="1956240"/>
            <a:ext cx="5811120" cy="262836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9" name="PlaceHolder 2"/>
          <p:cNvSpPr>
            <a:spLocks noGrp="1"/>
          </p:cNvSpPr>
          <p:nvPr>
            <p:ph type="body"/>
          </p:nvPr>
        </p:nvSpPr>
        <p:spPr>
          <a:xfrm rot="5400000">
            <a:off x="1800360" y="-596160"/>
            <a:ext cx="5811120" cy="7733520"/>
          </a:xfrm>
          <a:prstGeom prst="rect">
            <a:avLst/>
          </a:prstGeom>
          <a:noFill/>
          <a:ln w="0">
            <a:noFill/>
          </a:ln>
        </p:spPr>
        <p:txBody>
          <a:bodyPr lIns="91440" tIns="45720" rIns="91440" bIns="45720" anchor="t">
            <a:normAutofit/>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0" name="PlaceHolder 3"/>
          <p:cNvSpPr>
            <a:spLocks noGrp="1"/>
          </p:cNvSpPr>
          <p:nvPr>
            <p:ph type="dt" idx="10"/>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1" name="PlaceHolder 4"/>
          <p:cNvSpPr>
            <a:spLocks noGrp="1"/>
          </p:cNvSpPr>
          <p:nvPr>
            <p:ph type="ftr" idx="1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 name="PlaceHolder 5"/>
          <p:cNvSpPr>
            <a:spLocks noGrp="1"/>
          </p:cNvSpPr>
          <p:nvPr>
            <p:ph type="sldNum" idx="12"/>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CEF06CA-A507-4A07-B508-E3DDA6DA6A83}"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6000" b="0" u="none" strike="noStrike">
                <a:solidFill>
                  <a:srgbClr val="000000"/>
                </a:solidFill>
                <a:effectLst/>
                <a:uFillTx/>
                <a:latin typeface="Arial"/>
              </a:defRPr>
            </a:lvl1pPr>
          </a:lstStyle>
          <a:p>
            <a:pPr indent="0" algn="l">
              <a:lnSpc>
                <a:spcPct val="100000"/>
              </a:lnSpc>
              <a:buNone/>
              <a:tabLst>
                <a:tab pos="0" algn="l"/>
              </a:tabLst>
            </a:pPr>
            <a:r>
              <a:rPr lang="en-US" sz="6000" b="0" u="none" strike="noStrike">
                <a:solidFill>
                  <a:srgbClr val="000000"/>
                </a:solidFill>
                <a:effectLst/>
                <a:uFillTx/>
                <a:latin typeface="Arial"/>
              </a:rPr>
              <a:t>Click to edit the title text format</a:t>
            </a:r>
            <a:endParaRPr lang="en-US" sz="6000" b="0" u="none" strike="noStrike">
              <a:solidFill>
                <a:srgbClr val="000000"/>
              </a:solidFill>
              <a:effectLst/>
              <a:uFillTx/>
              <a:latin typeface="Arial"/>
            </a:endParaRPr>
          </a:p>
        </p:txBody>
      </p:sp>
      <p:sp>
        <p:nvSpPr>
          <p:cNvPr id="24" name="PlaceHolder 2"/>
          <p:cNvSpPr>
            <a:spLocks noGrp="1"/>
          </p:cNvSpPr>
          <p:nvPr>
            <p:ph type="body"/>
          </p:nvPr>
        </p:nvSpPr>
        <p:spPr>
          <a:xfrm>
            <a:off x="831960" y="4589640"/>
            <a:ext cx="10514880" cy="1499400"/>
          </a:xfrm>
          <a:prstGeom prst="rect">
            <a:avLst/>
          </a:prstGeom>
          <a:noFill/>
          <a:ln w="0">
            <a:noFill/>
          </a:ln>
        </p:spPr>
        <p:txBody>
          <a:bodyPr lIns="91440" tIns="45720" rIns="91440" bIns="45720" anchor="t">
            <a:normAutofit fontScale="47500" lnSpcReduction="19999"/>
          </a:bodyPr>
          <a:lstStyle>
            <a:lvl1pPr algn="l">
              <a:lnSpc>
                <a:spcPct val="100000"/>
              </a:lnSpc>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25" name="PlaceHolder 3"/>
          <p:cNvSpPr>
            <a:spLocks noGrp="1"/>
          </p:cNvSpPr>
          <p:nvPr>
            <p:ph type="dt" idx="13"/>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6" name="PlaceHolder 4"/>
          <p:cNvSpPr>
            <a:spLocks noGrp="1"/>
          </p:cNvSpPr>
          <p:nvPr>
            <p:ph type="ftr" idx="1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BF8E02EC-2F6A-4745-8195-3D913D45C011}"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9"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rmAutofit fontScale="85000" lnSpcReduction="9999"/>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0"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rmAutofit fontScale="85000" lnSpcReduction="9999"/>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1" name="PlaceHolder 4"/>
          <p:cNvSpPr>
            <a:spLocks noGrp="1"/>
          </p:cNvSpPr>
          <p:nvPr>
            <p:ph type="dt" idx="16"/>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2" name="PlaceHolder 5"/>
          <p:cNvSpPr>
            <a:spLocks noGrp="1"/>
          </p:cNvSpPr>
          <p:nvPr>
            <p:ph type="ftr" idx="1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3" name="PlaceHolder 6"/>
          <p:cNvSpPr>
            <a:spLocks noGrp="1"/>
          </p:cNvSpPr>
          <p:nvPr>
            <p:ph type="sldNum" idx="18"/>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3D926EB-2333-44D8-817F-7E083743978B}"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5"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rmAutofit fontScale="25000" lnSpcReduction="19999"/>
          </a:bodyPr>
          <a:lstStyle>
            <a:lvl1pPr algn="l">
              <a:lnSpc>
                <a:spcPct val="100000"/>
              </a:lnSpc>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36"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rmAutofit fontScale="85000" lnSpcReduction="19999"/>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7"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rmAutofit fontScale="25000" lnSpcReduction="19999"/>
          </a:bodyPr>
          <a:lstStyle>
            <a:lvl1pPr algn="l">
              <a:lnSpc>
                <a:spcPct val="100000"/>
              </a:lnSpc>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38"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rmAutofit fontScale="85000" lnSpcReduction="19999"/>
          </a:bodyPr>
          <a:lstStyle>
            <a:lvl1pPr algn="l">
              <a:lnSpc>
                <a:spcPct val="100000"/>
              </a:lnSpc>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lnSpc>
                <a:spcPct val="100000"/>
              </a:lnSpc>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lnSpc>
                <a:spcPct val="100000"/>
              </a:lnSpc>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lnSpc>
                <a:spcPct val="100000"/>
              </a:lnSpc>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9" name="PlaceHolder 6"/>
          <p:cNvSpPr>
            <a:spLocks noGrp="1"/>
          </p:cNvSpPr>
          <p:nvPr>
            <p:ph type="dt" idx="19"/>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0" name="PlaceHolder 7"/>
          <p:cNvSpPr>
            <a:spLocks noGrp="1"/>
          </p:cNvSpPr>
          <p:nvPr>
            <p:ph type="ftr" idx="2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 name="PlaceHolder 8"/>
          <p:cNvSpPr>
            <a:spLocks noGrp="1"/>
          </p:cNvSpPr>
          <p:nvPr>
            <p:ph type="sldNum" idx="21"/>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8F37CEE-A315-4677-92B4-0DBCE50481A0}"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rm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43" name="PlaceHolder 2"/>
          <p:cNvSpPr>
            <a:spLocks noGrp="1"/>
          </p:cNvSpPr>
          <p:nvPr>
            <p:ph type="dt" idx="22"/>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4" name="PlaceHolder 3"/>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5" name="PlaceHolder 4"/>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DD4A662-63A3-4A6B-8D50-FD5448ACDA8C}"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46" name="PlaceHolder 1"/>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7" name="PlaceHolder 2"/>
          <p:cNvSpPr>
            <a:spLocks noGrp="1"/>
          </p:cNvSpPr>
          <p:nvPr>
            <p:ph type="ftr" idx="2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8" name="PlaceHolder 3"/>
          <p:cNvSpPr>
            <a:spLocks noGrp="1"/>
          </p:cNvSpPr>
          <p:nvPr>
            <p:ph type="sldNum" idx="27"/>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221143E2-D422-489E-B2F1-7C580DD62770}"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rmAutofit/>
          </a:bodyPr>
          <a:lstStyle>
            <a:lvl1pPr indent="0" algn="l">
              <a:lnSpc>
                <a:spcPct val="100000"/>
              </a:lnSpc>
              <a:buNone/>
              <a:tabLst>
                <a:tab pos="0" algn="l"/>
              </a:tabLst>
              <a:defRPr lang="en-US" sz="3200" b="0" u="none" strike="noStrike">
                <a:solidFill>
                  <a:srgbClr val="000000"/>
                </a:solidFill>
                <a:effectLst/>
                <a:uFillTx/>
                <a:latin typeface="Arial"/>
              </a:defRPr>
            </a:lvl1pPr>
          </a:lstStyle>
          <a:p>
            <a:pPr indent="0" algn="l">
              <a:lnSpc>
                <a:spcPct val="100000"/>
              </a:lnSpc>
              <a:buNone/>
              <a:tabLst>
                <a:tab pos="0" algn="l"/>
              </a:tabLst>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50"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rmAutofit lnSpcReduction="9999"/>
          </a:bodyPr>
          <a:lstStyle>
            <a:lvl1pPr algn="l">
              <a:lnSpc>
                <a:spcPct val="100000"/>
              </a:lnSpc>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32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32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32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32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32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3200" b="0" u="none" strike="noStrike">
                <a:solidFill>
                  <a:srgbClr val="000000"/>
                </a:solidFill>
                <a:effectLst/>
                <a:uFillTx/>
                <a:latin typeface="Arial"/>
              </a:defRPr>
            </a:lvl7pPr>
          </a:lstStyle>
          <a:p>
            <a:pPr marL="457200" indent="-431640" algn="l">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914400" lvl="1" indent="-406440" algn="l">
              <a:lnSpc>
                <a:spcPct val="100000"/>
              </a:lnSpc>
              <a:spcBef>
                <a:spcPts val="1134"/>
              </a:spcBef>
              <a:buClr>
                <a:srgbClr val="000000"/>
              </a:buClr>
              <a:buSzPct val="75000"/>
              <a:buFont typeface="Symbol" charset="2"/>
              <a:buChar char=""/>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371600" lvl="2" indent="-380880" algn="l">
              <a:lnSpc>
                <a:spcPct val="100000"/>
              </a:lnSpc>
              <a:spcBef>
                <a:spcPts val="850"/>
              </a:spcBef>
              <a:buClr>
                <a:srgbClr val="000000"/>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828800" lvl="3" indent="-355680" algn="l">
              <a:lnSpc>
                <a:spcPct val="100000"/>
              </a:lnSpc>
              <a:spcBef>
                <a:spcPts val="567"/>
              </a:spcBef>
              <a:buClr>
                <a:srgbClr val="000000"/>
              </a:buClr>
              <a:buSzPct val="75000"/>
              <a:buFont typeface="Symbol" charset="2"/>
              <a:buChar char=""/>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286000" lvl="4" indent="-355680" algn="l">
              <a:lnSpc>
                <a:spcPct val="100000"/>
              </a:lnSpc>
              <a:spcBef>
                <a:spcPts val="283"/>
              </a:spcBef>
              <a:buClr>
                <a:srgbClr val="000000"/>
              </a:buClr>
              <a:buSzPct val="45000"/>
              <a:buFont typeface="Wingdings" charset="2"/>
              <a:buChar char=""/>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743200" lvl="5" indent="-355680" algn="l">
              <a:lnSpc>
                <a:spcPct val="100000"/>
              </a:lnSpc>
              <a:spcBef>
                <a:spcPts val="283"/>
              </a:spcBef>
              <a:buClr>
                <a:srgbClr val="000000"/>
              </a:buClr>
              <a:buSzPct val="45000"/>
              <a:buFont typeface="Wingdings" charset="2"/>
              <a:buChar char=""/>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3200400" lvl="6" indent="-355680" algn="l">
              <a:lnSpc>
                <a:spcPct val="100000"/>
              </a:lnSpc>
              <a:spcBef>
                <a:spcPts val="283"/>
              </a:spcBef>
              <a:buClr>
                <a:srgbClr val="000000"/>
              </a:buClr>
              <a:buSzPct val="45000"/>
              <a:buFont typeface="Wingdings" charset="2"/>
              <a:buChar char=""/>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51"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rmAutofit lnSpcReduction="9999"/>
          </a:bodyPr>
          <a:lstStyle>
            <a:lvl1pPr algn="l">
              <a:lnSpc>
                <a:spcPct val="100000"/>
              </a:lnSpc>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lnSpc>
                <a:spcPct val="100000"/>
              </a:lnSpc>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lnSpc>
                <a:spcPct val="100000"/>
              </a:lnSpc>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lnSpc>
                <a:spcPct val="100000"/>
              </a:lnSpc>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lnSpc>
                <a:spcPct val="100000"/>
              </a:lnSpc>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lnSpc>
                <a:spcPct val="100000"/>
              </a:lnSpc>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lnSpc>
                <a:spcPct val="100000"/>
              </a:lnSpc>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lnSpc>
                <a:spcPct val="100000"/>
              </a:lnSpc>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52" name="PlaceHolder 4"/>
          <p:cNvSpPr>
            <a:spLocks noGrp="1"/>
          </p:cNvSpPr>
          <p:nvPr>
            <p:ph type="dt" idx="28"/>
          </p:nvPr>
        </p:nvSpPr>
        <p:spPr>
          <a:xfrm>
            <a:off x="838080" y="6356520"/>
            <a:ext cx="2742480" cy="36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3" name="PlaceHolder 5"/>
          <p:cNvSpPr>
            <a:spLocks noGrp="1"/>
          </p:cNvSpPr>
          <p:nvPr>
            <p:ph type="ftr" idx="2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8610480" y="6356520"/>
            <a:ext cx="274248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649D8EA4-12A3-4CC3-A147-DFA86765CD8D}"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rmAutofit lnSpcReduction="9999"/>
          </a:bodyPr>
          <a:p>
            <a:pPr indent="0" algn="ctr">
              <a:lnSpc>
                <a:spcPct val="90000"/>
              </a:lnSpc>
              <a:buNone/>
              <a:tabLst>
                <a:tab pos="0" algn="l"/>
              </a:tabLst>
            </a:pPr>
            <a:r>
              <a:rPr lang="en-US" sz="6600" b="1" u="none" strike="noStrike">
                <a:solidFill>
                  <a:schemeClr val="dk1"/>
                </a:solidFill>
                <a:effectLst/>
                <a:uFillTx/>
                <a:latin typeface="Calibri"/>
                <a:ea typeface="Calibri"/>
              </a:rPr>
              <a:t>IBM University Engagement Project Submission</a:t>
            </a:r>
            <a:br>
              <a:rPr sz="6600"/>
            </a:br>
            <a:endParaRPr lang="en-US" sz="6600" b="0" u="none" strike="noStrike">
              <a:solidFill>
                <a:srgbClr val="000000"/>
              </a:solidFill>
              <a:effectLst/>
              <a:uFillTx/>
              <a:latin typeface="Arial"/>
            </a:endParaRPr>
          </a:p>
        </p:txBody>
      </p:sp>
      <p:sp>
        <p:nvSpPr>
          <p:cNvPr id="56" name="PlaceHolder 2"/>
          <p:cNvSpPr>
            <a:spLocks noGrp="1"/>
          </p:cNvSpPr>
          <p:nvPr>
            <p:ph/>
          </p:nvPr>
        </p:nvSpPr>
        <p:spPr>
          <a:xfrm>
            <a:off x="1014840" y="3903840"/>
            <a:ext cx="10514880" cy="1499400"/>
          </a:xfrm>
          <a:prstGeom prst="rect">
            <a:avLst/>
          </a:prstGeom>
          <a:noFill/>
          <a:ln w="0">
            <a:noFill/>
          </a:ln>
        </p:spPr>
        <p:txBody>
          <a:bodyPr lIns="91440" tIns="45720" rIns="91440" bIns="45720" anchor="t">
            <a:noAutofit/>
          </a:bodyPr>
          <a:p>
            <a:pPr marL="457200" indent="-228600" algn="ctr">
              <a:lnSpc>
                <a:spcPct val="90000"/>
              </a:lnSpc>
              <a:spcBef>
                <a:spcPts val="1001"/>
              </a:spcBef>
              <a:buNone/>
              <a:tabLst>
                <a:tab pos="0" algn="l"/>
              </a:tabLst>
            </a:pPr>
            <a:r>
              <a:rPr lang="en-US" sz="2400" b="1" i="1" u="none" strike="noStrike">
                <a:solidFill>
                  <a:schemeClr val="dk1"/>
                </a:solidFill>
                <a:effectLst/>
                <a:uFillTx/>
                <a:latin typeface="Calibri"/>
                <a:ea typeface="Calibri"/>
              </a:rPr>
              <a:t>“Exploring the Power of Agentic AI with IBM Granite and LangFlow”</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Google Shape;92;p2"/>
          <p:cNvSpPr/>
          <p:nvPr/>
        </p:nvSpPr>
        <p:spPr>
          <a:xfrm>
            <a:off x="690480" y="4425480"/>
            <a:ext cx="10794960" cy="198360"/>
          </a:xfrm>
          <a:prstGeom prst="rect">
            <a:avLst/>
          </a:prstGeom>
          <a:noFill/>
          <a:ln w="0">
            <a:noFill/>
          </a:ln>
        </p:spPr>
        <p:style>
          <a:lnRef idx="0"/>
          <a:fillRef idx="0"/>
          <a:effectRef idx="0"/>
          <a:fontRef idx="minor"/>
        </p:style>
        <p:txBody>
          <a:bodyPr lIns="0" tIns="0" rIns="0" bIns="0" anchor="t">
            <a:noAutofit/>
          </a:bodyPr>
          <a:p>
            <a:endParaRPr lang="en-US" sz="1500" b="0" u="none" strike="noStrike">
              <a:solidFill>
                <a:schemeClr val="dk1"/>
              </a:solidFill>
              <a:effectLst/>
              <a:uFillTx/>
              <a:latin typeface="Times New Roman"/>
            </a:endParaRPr>
          </a:p>
        </p:txBody>
      </p:sp>
      <p:sp>
        <p:nvSpPr>
          <p:cNvPr id="58" name="Google Shape;95;p2"/>
          <p:cNvSpPr/>
          <p:nvPr/>
        </p:nvSpPr>
        <p:spPr>
          <a:xfrm>
            <a:off x="1102320" y="1174680"/>
            <a:ext cx="7425720" cy="450720"/>
          </a:xfrm>
          <a:prstGeom prst="rect">
            <a:avLst/>
          </a:prstGeom>
          <a:noFill/>
          <a:ln w="0">
            <a:noFill/>
          </a:ln>
        </p:spPr>
        <p:style>
          <a:lnRef idx="0"/>
          <a:fillRef idx="0"/>
          <a:effectRef idx="0"/>
          <a:fontRef idx="minor"/>
        </p:style>
        <p:txBody>
          <a:bodyPr lIns="90000" tIns="45000" rIns="90000" bIns="45000" anchor="ctr">
            <a:noAutofit/>
          </a:bodyPr>
          <a:p>
            <a:endParaRPr lang="en-US" sz="3200" b="1" u="none" strike="noStrike">
              <a:solidFill>
                <a:srgbClr val="002060"/>
              </a:solidFill>
              <a:effectLst/>
              <a:uFillTx/>
              <a:latin typeface="Times New Roman"/>
            </a:endParaRPr>
          </a:p>
        </p:txBody>
      </p:sp>
      <p:graphicFrame>
        <p:nvGraphicFramePr>
          <p:cNvPr id="59" name="Google Shape;96;p2"/>
          <p:cNvGraphicFramePr/>
          <p:nvPr/>
        </p:nvGraphicFramePr>
        <p:xfrm>
          <a:off x="1299240" y="2600280"/>
          <a:ext cx="9394200" cy="216684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Student Name</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Recent Passport Photo</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Email ID </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Mobile number</a:t>
                      </a:r>
                      <a:endParaRPr lang="en-US" sz="1800" b="0" u="none" strike="noStrike">
                        <a:solidFill>
                          <a:srgbClr val="FFFFFF"/>
                        </a:solidFill>
                        <a:effectLst/>
                        <a:uFillTx/>
                        <a:latin typeface="Arial"/>
                      </a:endParaRPr>
                    </a:p>
                    <a:p>
                      <a:pPr algn="ctr">
                        <a:lnSpc>
                          <a:spcPct val="100000"/>
                        </a:lnSpc>
                        <a:tabLst>
                          <a:tab pos="0" algn="l"/>
                        </a:tabLst>
                      </a:pPr>
                      <a:r>
                        <a:rPr lang="en-US" sz="1800" b="0" u="none" strike="noStrike">
                          <a:solidFill>
                            <a:srgbClr val="000000"/>
                          </a:solidFill>
                          <a:effectLst/>
                          <a:uFillTx/>
                          <a:latin typeface="Arial"/>
                          <a:ea typeface="Calibri"/>
                        </a:rPr>
                        <a:t>[WhatsApp] </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pPr>
                        <a:lnSpc>
                          <a:spcPct val="100000"/>
                        </a:lnSpc>
                      </a:pPr>
                      <a:r>
                        <a:rPr lang="en-US" sz="1400" b="0" u="none" strike="noStrike">
                          <a:solidFill>
                            <a:srgbClr val="000000"/>
                          </a:solidFill>
                          <a:effectLst/>
                          <a:uFillTx/>
                          <a:latin typeface="Arial"/>
                        </a:rPr>
                        <a:t>Chirayu Kale</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pPr>
                      <a:r>
                        <a:rPr lang="en-US" sz="1400" b="0" u="none" strike="noStrike">
                          <a:solidFill>
                            <a:srgbClr val="000000"/>
                          </a:solidFill>
                          <a:effectLst/>
                          <a:uFillTx/>
                          <a:latin typeface="Arial"/>
                        </a:rPr>
                        <a:t>Chirayukale945@gmail.com</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pPr>
                      <a:r>
                        <a:rPr lang="en-US" sz="1400" b="0" u="none" strike="noStrike">
                          <a:solidFill>
                            <a:srgbClr val="000000"/>
                          </a:solidFill>
                          <a:effectLst/>
                          <a:uFillTx/>
                          <a:latin typeface="Arial"/>
                        </a:rPr>
                        <a:t>+918767844376</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pic>
        <p:nvPicPr>
          <p:cNvPr id="60" name="Google Shape;98;p2"/>
          <p:cNvPicPr/>
          <p:nvPr/>
        </p:nvPicPr>
        <p:blipFill>
          <a:blip r:embed="rId1"/>
          <a:stretch/>
        </p:blipFill>
        <p:spPr>
          <a:xfrm>
            <a:off x="4052880" y="3657600"/>
            <a:ext cx="976320" cy="1026720"/>
          </a:xfrm>
          <a:prstGeom prst="rect">
            <a:avLst/>
          </a:prstGeom>
          <a:noFill/>
          <a:ln w="0">
            <a:noFill/>
          </a:ln>
        </p:spPr>
      </p:pic>
      <p:sp>
        <p:nvSpPr>
          <p:cNvPr id="61" name="TextBox 3"/>
          <p:cNvSpPr/>
          <p:nvPr/>
        </p:nvSpPr>
        <p:spPr>
          <a:xfrm>
            <a:off x="1206000" y="1460880"/>
            <a:ext cx="10279440" cy="4554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Domain of  Project – </a:t>
            </a:r>
            <a:r>
              <a:rPr lang="en-US" sz="2400" b="1" u="none" strike="noStrike">
                <a:solidFill>
                  <a:srgbClr val="000000"/>
                </a:solidFill>
                <a:effectLst/>
                <a:highlight>
                  <a:srgbClr val="FFFF00"/>
                </a:highlight>
                <a:uFillTx/>
                <a:latin typeface="Arial"/>
                <a:ea typeface="Arial"/>
              </a:rPr>
              <a:t>[</a:t>
            </a:r>
            <a:r>
              <a:rPr lang="en-US" sz="2400" b="1" u="none" strike="noStrike">
                <a:solidFill>
                  <a:srgbClr val="000000"/>
                </a:solidFill>
                <a:effectLst/>
                <a:uFillTx/>
                <a:latin typeface="Arial"/>
                <a:ea typeface="Arial"/>
              </a:rPr>
              <a:t>Ecommerce</a:t>
            </a:r>
            <a:r>
              <a:rPr lang="en-US" sz="2400" b="1" u="none" strike="noStrike">
                <a:solidFill>
                  <a:srgbClr val="000000"/>
                </a:solidFill>
                <a:effectLst/>
                <a:highlight>
                  <a:srgbClr val="FFFF00"/>
                </a:highlight>
                <a:uFillTx/>
                <a:latin typeface="Arial"/>
                <a:ea typeface="Arial"/>
              </a:rPr>
              <a:t>]</a:t>
            </a:r>
            <a:endParaRPr lang="en-US" sz="2400" b="0" u="none" strike="noStrike">
              <a:solidFill>
                <a:srgbClr val="000000"/>
              </a:solidFill>
              <a:effectLst/>
              <a:uFillTx/>
              <a:latin typeface="Arial"/>
            </a:endParaRPr>
          </a:p>
        </p:txBody>
      </p:sp>
      <p:sp>
        <p:nvSpPr>
          <p:cNvPr id="62" name="TextBox 6"/>
          <p:cNvSpPr/>
          <p:nvPr/>
        </p:nvSpPr>
        <p:spPr>
          <a:xfrm>
            <a:off x="1206000" y="551880"/>
            <a:ext cx="9580320" cy="4554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Project Tile – </a:t>
            </a:r>
            <a:r>
              <a:rPr lang="en-US" sz="2400" b="1" u="none" strike="noStrike">
                <a:solidFill>
                  <a:srgbClr val="000000"/>
                </a:solidFill>
                <a:effectLst/>
                <a:highlight>
                  <a:srgbClr val="FFFF00"/>
                </a:highlight>
                <a:uFillTx/>
                <a:latin typeface="Arial"/>
                <a:ea typeface="Arial"/>
              </a:rPr>
              <a:t>[</a:t>
            </a:r>
            <a:r>
              <a:rPr lang="en-US" sz="2400" b="1" u="none" strike="noStrike">
                <a:solidFill>
                  <a:srgbClr val="000000"/>
                </a:solidFill>
                <a:effectLst/>
                <a:uFillTx/>
                <a:latin typeface="Arial"/>
                <a:ea typeface="Arial"/>
              </a:rPr>
              <a:t> Intelligent Shopping Agent</a:t>
            </a:r>
            <a:r>
              <a:rPr lang="en-US" sz="1800" b="0" u="none" strike="noStrike">
                <a:solidFill>
                  <a:srgbClr val="000000"/>
                </a:solidFill>
                <a:effectLst/>
                <a:uFillTx/>
                <a:latin typeface="Arial"/>
                <a:ea typeface="Arial"/>
              </a:rPr>
              <a:t> </a:t>
            </a:r>
            <a:r>
              <a:rPr lang="en-US" sz="2400" b="1" u="none" strike="noStrike">
                <a:solidFill>
                  <a:srgbClr val="000000"/>
                </a:solidFill>
                <a:effectLst/>
                <a:highlight>
                  <a:srgbClr val="FFFF00"/>
                </a:highlight>
                <a:uFillTx/>
                <a:latin typeface="Arial"/>
                <a:ea typeface="Arial"/>
              </a:rPr>
              <a:t>]</a:t>
            </a:r>
            <a:endParaRPr lang="en-US" sz="2400" b="0" u="none" strike="noStrike">
              <a:solidFill>
                <a:srgbClr val="000000"/>
              </a:solidFill>
              <a:effectLst/>
              <a:uFillTx/>
              <a:latin typeface="Arial"/>
            </a:endParaRPr>
          </a:p>
        </p:txBody>
      </p:sp>
      <p:sp>
        <p:nvSpPr>
          <p:cNvPr id="63" name="TextBox 2"/>
          <p:cNvSpPr/>
          <p:nvPr/>
        </p:nvSpPr>
        <p:spPr>
          <a:xfrm>
            <a:off x="1211040" y="5210640"/>
            <a:ext cx="6455880" cy="163044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000" b="0" u="none" strike="noStrike">
                <a:solidFill>
                  <a:srgbClr val="FF0000"/>
                </a:solidFill>
                <a:effectLst/>
                <a:uFillTx/>
                <a:latin typeface="Arial"/>
                <a:ea typeface="Arial"/>
              </a:rPr>
              <a:t>Recommended font style and size:</a:t>
            </a:r>
            <a:br>
              <a:rPr sz="2000"/>
            </a:br>
            <a:br>
              <a:rPr sz="2000"/>
            </a:br>
            <a:r>
              <a:rPr lang="en-US" sz="2000" b="0" u="none" strike="noStrike">
                <a:solidFill>
                  <a:srgbClr val="FF0000"/>
                </a:solidFill>
                <a:effectLst/>
                <a:uFillTx/>
                <a:latin typeface="Arial"/>
                <a:ea typeface="Arial"/>
              </a:rPr>
              <a:t>Font Style: Arial</a:t>
            </a:r>
            <a:br>
              <a:rPr sz="2000"/>
            </a:br>
            <a:r>
              <a:rPr lang="en-US" sz="2000" b="0" u="none" strike="noStrike">
                <a:solidFill>
                  <a:srgbClr val="FF0000"/>
                </a:solidFill>
                <a:effectLst/>
                <a:uFillTx/>
                <a:latin typeface="Arial"/>
                <a:ea typeface="Arial"/>
              </a:rPr>
              <a:t>Font Size (Heading): 28</a:t>
            </a:r>
            <a:endParaRPr lang="en-US" sz="2000" b="0" u="none" strike="noStrike">
              <a:solidFill>
                <a:srgbClr val="000000"/>
              </a:solidFill>
              <a:effectLst/>
              <a:uFillTx/>
              <a:latin typeface="Arial"/>
            </a:endParaRPr>
          </a:p>
          <a:p>
            <a:pPr>
              <a:lnSpc>
                <a:spcPct val="100000"/>
              </a:lnSpc>
            </a:pPr>
            <a:r>
              <a:rPr lang="en-US" sz="2000" b="0" u="none" strike="noStrike">
                <a:solidFill>
                  <a:srgbClr val="FF0000"/>
                </a:solidFill>
                <a:effectLst/>
                <a:uFillTx/>
                <a:latin typeface="Arial"/>
                <a:ea typeface="Arial"/>
              </a:rPr>
              <a:t>Font Size (Content): 20</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TextBox 1"/>
          <p:cNvSpPr/>
          <p:nvPr/>
        </p:nvSpPr>
        <p:spPr>
          <a:xfrm>
            <a:off x="576000" y="1234440"/>
            <a:ext cx="10606320" cy="43592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Arial"/>
                <a:ea typeface="Arial"/>
              </a:rPr>
              <a:t>Problem Statement : Intelligent Shopping Agent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Challenge</a:t>
            </a:r>
            <a:r>
              <a:rPr lang="en-US" sz="1400" b="0" u="none" strike="noStrike">
                <a:solidFill>
                  <a:srgbClr val="000000"/>
                </a:solidFill>
                <a:effectLst/>
                <a:uFillTx/>
                <a:latin typeface="Arial"/>
                <a:ea typeface="Arial"/>
              </a:rPr>
              <a:t>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Shoppers today face an overload of product options, scattered reviews, and dynamic pricing across e-commerce platforms. Finding the right product that balances price, quality, and personal preferences is time-consuming and frustrating. Traditional recommendation systems often fail to capture real-time trends, personalized needs, or contextual factors like urgency, budget, or sustainability. The challenge is not just to recommend products but to act as a smart shopping companion that helps buyers make informed and confident decisions. </a:t>
            </a: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Objective</a:t>
            </a:r>
            <a:r>
              <a:rPr lang="en-US" sz="1400" b="0" u="none" strike="noStrike">
                <a:solidFill>
                  <a:srgbClr val="000000"/>
                </a:solidFill>
                <a:effectLst/>
                <a:uFillTx/>
                <a:latin typeface="Arial"/>
                <a:ea typeface="Arial"/>
              </a:rPr>
              <a:t>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Build an agentic AI shopping assistant that provides intelligent, personalized, and real-time support. The solution should: </a:t>
            </a: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Fuse Multisource Data</a:t>
            </a:r>
            <a:r>
              <a:rPr lang="en-US" sz="1400" b="0" u="none" strike="noStrike">
                <a:solidFill>
                  <a:srgbClr val="000000"/>
                </a:solidFill>
                <a:effectLst/>
                <a:uFillTx/>
                <a:latin typeface="Arial"/>
                <a:ea typeface="Arial"/>
              </a:rPr>
              <a:t> –  Aggregate product details, reviews, ratings, and price comparisons across multiple e-commerce sites into unified insights. </a:t>
            </a: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Enable Multimodal Search </a:t>
            </a:r>
            <a:r>
              <a:rPr lang="en-US" sz="1400" b="0" u="none" strike="noStrike">
                <a:solidFill>
                  <a:srgbClr val="000000"/>
                </a:solidFill>
                <a:effectLst/>
                <a:uFillTx/>
                <a:latin typeface="Arial"/>
                <a:ea typeface="Arial"/>
              </a:rPr>
              <a:t>–  Allow users to input voice queries, images (e.g., a photo of a product), or text descriptions to find best-matching products. </a:t>
            </a: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Create a Predictive &amp; Agentic Layer</a:t>
            </a:r>
            <a:r>
              <a:rPr lang="en-US" sz="1400" b="0" u="none" strike="noStrike">
                <a:solidFill>
                  <a:srgbClr val="000000"/>
                </a:solidFill>
                <a:effectLst/>
                <a:uFillTx/>
                <a:latin typeface="Arial"/>
                <a:ea typeface="Arial"/>
              </a:rPr>
              <a:t> – Suggest purchase timing (e.g., discounts, seasonal offers), recommend alternatives, and alert users about price drops or fake reviews. </a:t>
            </a: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400" b="1" u="none" strike="noStrike">
                <a:solidFill>
                  <a:srgbClr val="000000"/>
                </a:solidFill>
                <a:effectLst/>
                <a:uFillTx/>
                <a:latin typeface="Arial"/>
                <a:ea typeface="Arial"/>
              </a:rPr>
              <a:t>Visualize Smart Shopping Pulse </a:t>
            </a:r>
            <a:r>
              <a:rPr lang="en-US" sz="1400" b="0" u="none" strike="noStrike">
                <a:solidFill>
                  <a:srgbClr val="000000"/>
                </a:solidFill>
                <a:effectLst/>
                <a:uFillTx/>
                <a:latin typeface="Arial"/>
                <a:ea typeface="Arial"/>
              </a:rPr>
              <a:t>– Provide a dashboard summarizing comparisons, sustainability scores, trending products, and personalized shopping lists.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
        <p:nvSpPr>
          <p:cNvPr id="65" name="TextBox 2"/>
          <p:cNvSpPr/>
          <p:nvPr/>
        </p:nvSpPr>
        <p:spPr>
          <a:xfrm>
            <a:off x="576000" y="704160"/>
            <a:ext cx="7214040" cy="460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Problem Statement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TextBox 1"/>
          <p:cNvSpPr/>
          <p:nvPr/>
        </p:nvSpPr>
        <p:spPr>
          <a:xfrm>
            <a:off x="576000" y="1234440"/>
            <a:ext cx="10606320" cy="5318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1" u="none" strike="noStrike">
                <a:solidFill>
                  <a:srgbClr val="000000"/>
                </a:solidFill>
                <a:effectLst/>
                <a:uFillTx/>
                <a:latin typeface="Arial"/>
                <a:ea typeface="Arial"/>
              </a:rPr>
              <a:t>Proposed Solution: AI-Powered Intelligent Shopping Agent</a:t>
            </a: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0" u="none" strike="noStrike">
                <a:solidFill>
                  <a:srgbClr val="000000"/>
                </a:solidFill>
                <a:effectLst/>
                <a:uFillTx/>
                <a:latin typeface="Arial"/>
                <a:ea typeface="Arial"/>
              </a:rPr>
              <a:t>he proposed solution is a multi-agent AI-powered Intelligent Shopping Agent built using LangFlow, IBM watsonx.ai, and Granite Models to provide personalized, real-time shopping assistance. The system addresses challenges such as product overload, fake reviews, scattered pricing, and purchase decision-making through an intelligent, modular architecture.At its core, the solution uses a Retrieval-Augmented Generation (RAG) pipeline to gather product information from trusted e-commerce platforms, product catalogs, review datasets, and pricing sources. This information is embedded and stored in a vector database, enabling the system to retrieve, compare, and summarize product specifications, customer reviews, pricing, and buying insights using Granite Models.The system consists of five three agents:</a:t>
            </a: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1" u="none" strike="noStrike">
                <a:solidFill>
                  <a:srgbClr val="000000"/>
                </a:solidFill>
                <a:effectLst/>
                <a:uFillTx/>
                <a:latin typeface="Arial"/>
                <a:ea typeface="Arial"/>
              </a:rPr>
              <a:t>Product Intelligence Agent</a:t>
            </a:r>
            <a:r>
              <a:rPr lang="en-US" sz="1400" b="0" u="none" strike="noStrike">
                <a:solidFill>
                  <a:srgbClr val="000000"/>
                </a:solidFill>
                <a:effectLst/>
                <a:uFillTx/>
                <a:latin typeface="Arial"/>
                <a:ea typeface="Arial"/>
              </a:rPr>
              <a:t> Retrieves and consolidates product information from multiple sources, including specifications, ratings, reviews, availability, warranty, and seller details. It provides users with unified product insights instead of scattered information.</a:t>
            </a: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1" u="none" strike="noStrike">
                <a:solidFill>
                  <a:srgbClr val="000000"/>
                </a:solidFill>
                <a:effectLst/>
                <a:uFillTx/>
                <a:latin typeface="Arial"/>
                <a:ea typeface="Arial"/>
              </a:rPr>
              <a:t>Smart Recommendation Agent</a:t>
            </a:r>
            <a:r>
              <a:rPr lang="en-US" sz="1400" b="0" u="none" strike="noStrike">
                <a:solidFill>
                  <a:srgbClr val="000000"/>
                </a:solidFill>
                <a:effectLst/>
                <a:uFillTx/>
                <a:latin typeface="Arial"/>
                <a:ea typeface="Arial"/>
              </a:rPr>
              <a:t> Generates personalized product recommendations based on user preferences such as budget, brand, intended use, lifestyle, sustainability preferences, and past shopping behavior. It also recommends suitable alternatives when better value products are available.</a:t>
            </a: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1" u="none" strike="noStrike">
                <a:solidFill>
                  <a:srgbClr val="000000"/>
                </a:solidFill>
                <a:effectLst/>
                <a:uFillTx/>
                <a:latin typeface="Arial"/>
                <a:ea typeface="Arial"/>
              </a:rPr>
              <a:t>Review Intelligence Agent</a:t>
            </a:r>
            <a:r>
              <a:rPr lang="en-US" sz="1400" b="0" u="none" strike="noStrike">
                <a:solidFill>
                  <a:srgbClr val="000000"/>
                </a:solidFill>
                <a:effectLst/>
                <a:uFillTx/>
                <a:latin typeface="Arial"/>
                <a:ea typeface="Arial"/>
              </a:rPr>
              <a:t> Analyzes customer reviews using AI to summarize positive and negative feedback, detect fake or suspicious reviews, identify common complaints, and generate trustworthy product sentiment reports that help users make informed decisions.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
        <p:nvSpPr>
          <p:cNvPr id="67" name="TextBox 2"/>
          <p:cNvSpPr/>
          <p:nvPr/>
        </p:nvSpPr>
        <p:spPr>
          <a:xfrm>
            <a:off x="576000" y="704160"/>
            <a:ext cx="7214040" cy="460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Proposed Solution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Box 1"/>
          <p:cNvSpPr/>
          <p:nvPr/>
        </p:nvSpPr>
        <p:spPr>
          <a:xfrm>
            <a:off x="777240" y="484560"/>
            <a:ext cx="7122600" cy="460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Technology Used</a:t>
            </a:r>
            <a:endParaRPr lang="en-US" sz="2400" b="0" u="none" strike="noStrike">
              <a:solidFill>
                <a:srgbClr val="000000"/>
              </a:solidFill>
              <a:effectLst/>
              <a:uFillTx/>
              <a:latin typeface="Arial"/>
            </a:endParaRPr>
          </a:p>
        </p:txBody>
      </p:sp>
      <p:sp>
        <p:nvSpPr>
          <p:cNvPr id="69" name="TextBox 2"/>
          <p:cNvSpPr/>
          <p:nvPr/>
        </p:nvSpPr>
        <p:spPr>
          <a:xfrm>
            <a:off x="777240" y="1207080"/>
            <a:ext cx="10514880" cy="545544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Langflow platform </a:t>
            </a:r>
            <a:r>
              <a:rPr lang="en-US" sz="1800" b="0" u="none" strike="noStrike">
                <a:solidFill>
                  <a:srgbClr val="000000"/>
                </a:solidFill>
                <a:effectLst/>
                <a:uFillTx/>
                <a:latin typeface="Arial"/>
                <a:ea typeface="Arial"/>
              </a:rPr>
              <a:t>-For designing and orchestrating multi-agent workflows visually</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IBM Granite model </a:t>
            </a:r>
            <a:r>
              <a:rPr lang="en-US" sz="1800" b="0" u="none" strike="noStrike">
                <a:solidFill>
                  <a:srgbClr val="000000"/>
                </a:solidFill>
                <a:effectLst/>
                <a:uFillTx/>
                <a:latin typeface="Arial"/>
                <a:ea typeface="Arial"/>
              </a:rPr>
              <a:t>-  for eg – ibm-granite-3-2-8b – For natural language understanding, reasoning, and personalization</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IBM Cloud </a:t>
            </a:r>
            <a:r>
              <a:rPr lang="en-US" sz="1800" b="0" u="none" strike="noStrike">
                <a:solidFill>
                  <a:srgbClr val="000000"/>
                </a:solidFill>
                <a:effectLst/>
                <a:uFillTx/>
                <a:latin typeface="Arial"/>
                <a:ea typeface="Arial"/>
              </a:rPr>
              <a:t>– It provides the infrastructure to build, deploy, and scale the Shopping Agent efficiently. IBM Cloud enables a </a:t>
            </a:r>
            <a:r>
              <a:rPr lang="en-US" sz="1800" b="1" u="none" strike="noStrike">
                <a:solidFill>
                  <a:srgbClr val="000000"/>
                </a:solidFill>
                <a:effectLst/>
                <a:uFillTx/>
                <a:latin typeface="Arial"/>
                <a:ea typeface="Arial"/>
              </a:rPr>
              <a:t>reliable, secure, and scalable environment</a:t>
            </a:r>
            <a:r>
              <a:rPr lang="en-US" sz="1800" b="0" u="none" strike="noStrike">
                <a:solidFill>
                  <a:srgbClr val="000000"/>
                </a:solidFill>
                <a:effectLst/>
                <a:uFillTx/>
                <a:latin typeface="Arial"/>
                <a:ea typeface="Arial"/>
              </a:rPr>
              <a:t> for deploying the Shopping Agent.</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RAG– </a:t>
            </a:r>
            <a:r>
              <a:rPr lang="en-US" sz="1800" b="0" u="none" strike="noStrike">
                <a:solidFill>
                  <a:srgbClr val="000000"/>
                </a:solidFill>
                <a:effectLst/>
                <a:uFillTx/>
                <a:latin typeface="Arial"/>
                <a:ea typeface="Arial"/>
              </a:rPr>
              <a:t>RAG to </a:t>
            </a:r>
            <a:r>
              <a:rPr lang="en-US" sz="1800" b="1" u="none" strike="noStrike">
                <a:solidFill>
                  <a:srgbClr val="000000"/>
                </a:solidFill>
                <a:effectLst/>
                <a:uFillTx/>
                <a:latin typeface="Arial"/>
                <a:ea typeface="Arial"/>
              </a:rPr>
              <a:t>fetch real data first, then generate intelligent answers</a:t>
            </a:r>
            <a:r>
              <a:rPr lang="en-US" sz="1800" b="0" u="none" strike="noStrike">
                <a:solidFill>
                  <a:srgbClr val="000000"/>
                </a:solidFill>
                <a:effectLst/>
                <a:uFillTx/>
                <a:latin typeface="Arial"/>
                <a:ea typeface="Arial"/>
              </a:rPr>
              <a:t>, making the Shopping Agent more trustworthy and effective.</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IBM Watsonx.ai - </a:t>
            </a:r>
            <a:r>
              <a:rPr lang="en-US" sz="1800" b="0" u="none" strike="noStrike">
                <a:solidFill>
                  <a:srgbClr val="000000"/>
                </a:solidFill>
                <a:effectLst/>
                <a:uFillTx/>
                <a:latin typeface="Arial"/>
                <a:ea typeface="Arial"/>
              </a:rPr>
              <a:t>For model deployment, embeddings, and AI governance</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IN" sz="1800" b="1" u="none" strike="noStrike">
                <a:solidFill>
                  <a:srgbClr val="000000"/>
                </a:solidFill>
                <a:effectLst/>
                <a:uFillTx/>
                <a:latin typeface="Arial"/>
                <a:ea typeface="Arial"/>
              </a:rPr>
              <a:t>Vector Database </a:t>
            </a:r>
            <a:r>
              <a:rPr lang="en-IN" sz="1800" b="0" u="none" strike="noStrike">
                <a:solidFill>
                  <a:srgbClr val="000000"/>
                </a:solidFill>
                <a:effectLst/>
                <a:uFillTx/>
                <a:latin typeface="Arial"/>
                <a:ea typeface="Arial"/>
              </a:rPr>
              <a:t>(FAISS/Chroma) – For RAG-based nutritional data retrieval</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Google Shape;135;p5"/>
          <p:cNvSpPr/>
          <p:nvPr/>
        </p:nvSpPr>
        <p:spPr>
          <a:xfrm>
            <a:off x="537480" y="323280"/>
            <a:ext cx="5908320" cy="44784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Langflow</a:t>
            </a:r>
            <a:r>
              <a:rPr lang="en-US" sz="3500" b="1" u="none" strike="noStrike">
                <a:solidFill>
                  <a:srgbClr val="051D3A"/>
                </a:solidFill>
                <a:effectLst/>
                <a:uFillTx/>
                <a:latin typeface="Times New Roman"/>
                <a:ea typeface="Times New Roman"/>
              </a:rPr>
              <a:t> </a:t>
            </a:r>
            <a:r>
              <a:rPr lang="en-US" sz="2400" b="1" u="none" strike="noStrike">
                <a:solidFill>
                  <a:srgbClr val="000000"/>
                </a:solidFill>
                <a:effectLst/>
                <a:uFillTx/>
                <a:latin typeface="Arial"/>
                <a:ea typeface="Arial"/>
              </a:rPr>
              <a:t>component Used -</a:t>
            </a:r>
            <a:endParaRPr lang="en-US" sz="2400" b="0" u="none" strike="noStrike">
              <a:solidFill>
                <a:srgbClr val="000000"/>
              </a:solidFill>
              <a:effectLst/>
              <a:uFillTx/>
              <a:latin typeface="Arial"/>
            </a:endParaRPr>
          </a:p>
        </p:txBody>
      </p:sp>
      <p:sp>
        <p:nvSpPr>
          <p:cNvPr id="71" name="Google Shape;148;p5"/>
          <p:cNvSpPr/>
          <p:nvPr/>
        </p:nvSpPr>
        <p:spPr>
          <a:xfrm>
            <a:off x="2264400" y="6784560"/>
            <a:ext cx="2140200" cy="22356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2" name="Google Shape;149;p5"/>
          <p:cNvSpPr/>
          <p:nvPr/>
        </p:nvSpPr>
        <p:spPr>
          <a:xfrm>
            <a:off x="1782720" y="7100280"/>
            <a:ext cx="3103560" cy="73116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3" name="Google Shape;150;p5"/>
          <p:cNvSpPr/>
          <p:nvPr/>
        </p:nvSpPr>
        <p:spPr>
          <a:xfrm>
            <a:off x="5732280" y="6784560"/>
            <a:ext cx="1793160" cy="22356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4" name="Google Shape;151;p5"/>
          <p:cNvSpPr/>
          <p:nvPr/>
        </p:nvSpPr>
        <p:spPr>
          <a:xfrm>
            <a:off x="5077440" y="7100280"/>
            <a:ext cx="3103560" cy="73116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5" name="Google Shape;152;p5"/>
          <p:cNvSpPr/>
          <p:nvPr/>
        </p:nvSpPr>
        <p:spPr>
          <a:xfrm>
            <a:off x="9027000" y="6784560"/>
            <a:ext cx="1793160" cy="22356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6" name="Google Shape;153;p5"/>
          <p:cNvSpPr/>
          <p:nvPr/>
        </p:nvSpPr>
        <p:spPr>
          <a:xfrm>
            <a:off x="8372160" y="7100280"/>
            <a:ext cx="3103560" cy="73116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7" name="TextBox 1"/>
          <p:cNvSpPr/>
          <p:nvPr/>
        </p:nvSpPr>
        <p:spPr>
          <a:xfrm>
            <a:off x="474840" y="863280"/>
            <a:ext cx="8823240" cy="59810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1) Chat Input </a:t>
            </a:r>
            <a:r>
              <a:rPr lang="en-US" sz="1400" b="0" u="none" strike="noStrike">
                <a:solidFill>
                  <a:srgbClr val="000000"/>
                </a:solidFill>
                <a:effectLst/>
                <a:uFillTx/>
                <a:latin typeface="Arial"/>
                <a:ea typeface="Arial"/>
              </a:rPr>
              <a:t>– Interface where users enter their queries, preferences, or product details (text/voice/image).</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2) IBM watsonx AI Agent </a:t>
            </a:r>
            <a:r>
              <a:rPr lang="en-US" sz="1400" b="0" u="none" strike="noStrike">
                <a:solidFill>
                  <a:srgbClr val="000000"/>
                </a:solidFill>
                <a:effectLst/>
                <a:uFillTx/>
                <a:latin typeface="Arial"/>
                <a:ea typeface="Arial"/>
              </a:rPr>
              <a:t>- Processes user input using Granite models to generate personalized shopping insights and recommendations.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3) Name of IBM Granite model - </a:t>
            </a:r>
            <a:r>
              <a:rPr lang="en-US" sz="1400" b="0" u="none" strike="noStrike">
                <a:solidFill>
                  <a:srgbClr val="000000"/>
                </a:solidFill>
                <a:effectLst/>
                <a:uFillTx/>
                <a:latin typeface="Arial"/>
                <a:ea typeface="Arial"/>
              </a:rPr>
              <a:t>Granite-4.0-8B-Instruct → Fast, efficient for real-time shopping recommendation</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1" u="none" strike="noStrike">
                <a:solidFill>
                  <a:srgbClr val="000000"/>
                </a:solidFill>
                <a:effectLst/>
                <a:uFillTx/>
                <a:latin typeface="Arial"/>
                <a:ea typeface="Arial"/>
              </a:rPr>
              <a:t>4) Chat output -</a:t>
            </a:r>
            <a:r>
              <a:rPr lang="en-US" sz="1400" b="0" u="none" strike="noStrike">
                <a:solidFill>
                  <a:srgbClr val="000000"/>
                </a:solidFill>
                <a:effectLst/>
                <a:uFillTx/>
                <a:latin typeface="Arial"/>
                <a:ea typeface="Arial"/>
              </a:rPr>
              <a:t>Displays AI-generated responses such as personalized product recommendations, price comparisons, review summaries, and smart buying suggestions.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1" u="none" strike="noStrike">
                <a:solidFill>
                  <a:srgbClr val="000000"/>
                </a:solidFill>
                <a:effectLst/>
                <a:uFillTx/>
                <a:latin typeface="Arial"/>
                <a:ea typeface="Arial"/>
              </a:rPr>
              <a:t>5) </a:t>
            </a:r>
            <a:r>
              <a:rPr lang="en-US" sz="1400" b="1" u="none" strike="noStrike">
                <a:solidFill>
                  <a:srgbClr val="000000"/>
                </a:solidFill>
                <a:effectLst/>
                <a:highlight>
                  <a:srgbClr val="FFFF00"/>
                </a:highlight>
                <a:uFillTx/>
                <a:latin typeface="Arial"/>
                <a:ea typeface="Arial"/>
              </a:rPr>
              <a:t>File component - </a:t>
            </a:r>
            <a:r>
              <a:rPr lang="en-US" sz="1400" b="0" u="none" strike="noStrike">
                <a:solidFill>
                  <a:srgbClr val="000000"/>
                </a:solidFill>
                <a:effectLst/>
                <a:highlight>
                  <a:srgbClr val="FFFF00"/>
                </a:highlight>
                <a:uFillTx/>
                <a:latin typeface="Arial"/>
                <a:ea typeface="Arial"/>
              </a:rPr>
              <a:t>Stores and retrieves user preferences, shopping history, product information, price trends, and review datasets for personalized recommendations, comparison, and purchase tracking.</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 </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Google Shape;196;p9"/>
          <p:cNvPicPr/>
          <p:nvPr/>
        </p:nvPicPr>
        <p:blipFill>
          <a:blip r:embed="rId1"/>
          <a:stretch/>
        </p:blipFill>
        <p:spPr>
          <a:xfrm>
            <a:off x="8372160" y="1167480"/>
            <a:ext cx="3014640" cy="4522320"/>
          </a:xfrm>
          <a:prstGeom prst="rect">
            <a:avLst/>
          </a:prstGeom>
          <a:noFill/>
          <a:ln w="0">
            <a:noFill/>
          </a:ln>
        </p:spPr>
      </p:pic>
      <p:sp>
        <p:nvSpPr>
          <p:cNvPr id="79" name="TextBox 1"/>
          <p:cNvSpPr/>
          <p:nvPr/>
        </p:nvSpPr>
        <p:spPr>
          <a:xfrm>
            <a:off x="475560" y="283320"/>
            <a:ext cx="9317160" cy="5839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3200" b="1" u="none" strike="noStrike">
                <a:solidFill>
                  <a:srgbClr val="000000"/>
                </a:solidFill>
                <a:effectLst/>
                <a:uFillTx/>
                <a:latin typeface="Arial"/>
                <a:ea typeface="Arial"/>
              </a:rPr>
              <a:t>Role of Agentic AI in the solution </a:t>
            </a:r>
            <a:endParaRPr lang="en-US" sz="3200" b="0" u="none" strike="noStrike">
              <a:solidFill>
                <a:srgbClr val="000000"/>
              </a:solidFill>
              <a:effectLst/>
              <a:uFillTx/>
              <a:latin typeface="Arial"/>
            </a:endParaRPr>
          </a:p>
        </p:txBody>
      </p:sp>
      <p:sp>
        <p:nvSpPr>
          <p:cNvPr id="80" name="TextBox 2"/>
          <p:cNvSpPr/>
          <p:nvPr/>
        </p:nvSpPr>
        <p:spPr>
          <a:xfrm>
            <a:off x="621720" y="1167480"/>
            <a:ext cx="7405920" cy="55324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1400" b="1" u="none" strike="noStrike">
                <a:solidFill>
                  <a:srgbClr val="000000"/>
                </a:solidFill>
                <a:effectLst/>
                <a:uFillTx/>
                <a:latin typeface="Arial"/>
                <a:ea typeface="Arial"/>
              </a:rPr>
              <a:t>Role of Agentic AI in Intelligent Shopping Agent</a:t>
            </a: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0" u="none" strike="noStrike">
                <a:solidFill>
                  <a:srgbClr val="000000"/>
                </a:solidFill>
                <a:effectLst/>
                <a:uFillTx/>
                <a:latin typeface="Arial"/>
                <a:ea typeface="Arial"/>
              </a:rPr>
              <a:t>Agentic AI enables the Intelligent Shopping Agent to function as an autonomous, intelligent shopping assistant rather than a traditional recommendation system. Using IBM watsonx.ai and IBM Granite Models, it coordinates multiple specialized agents to provide personalized, real-time shopping guidance.</a:t>
            </a: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0" u="none" strike="noStrike">
                <a:solidFill>
                  <a:srgbClr val="000000"/>
                </a:solidFill>
                <a:effectLst/>
                <a:uFillTx/>
                <a:latin typeface="Arial"/>
                <a:ea typeface="Arial"/>
              </a:rPr>
              <a:t>Each agent performs a specific role—such as retrieving product information, comparing prices, analyzing customer reviews, predicting price trends, and generating personalized recommendations—while collaborating seamlessly. This multi-agent architecture ensures efficient decision-making, comprehensive product analysis, and accurate recommendations.</a:t>
            </a: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0" u="none" strike="noStrike">
                <a:solidFill>
                  <a:srgbClr val="000000"/>
                </a:solidFill>
                <a:effectLst/>
                <a:uFillTx/>
                <a:latin typeface="Arial"/>
                <a:ea typeface="Arial"/>
              </a:rPr>
              <a:t>Agentic AI also provides context awareness by understanding user preferences such as budget, preferred brands, product category, sustainability concerns, and intended usage. Based on these factors, it delivers tailored product suggestions and shopping insights that match individual needs.</a:t>
            </a:r>
            <a:endParaRPr lang="en-US" sz="1400" b="0" u="none" strike="noStrike">
              <a:solidFill>
                <a:srgbClr val="000000"/>
              </a:solidFill>
              <a:effectLst/>
              <a:uFillTx/>
              <a:latin typeface="Arial"/>
            </a:endParaRPr>
          </a:p>
          <a:p>
            <a:pPr>
              <a:lnSpc>
                <a:spcPct val="100000"/>
              </a:lnSpc>
              <a:spcBef>
                <a:spcPts val="1191"/>
              </a:spcBef>
              <a:spcAft>
                <a:spcPts val="992"/>
              </a:spcAft>
            </a:pPr>
            <a:r>
              <a:rPr lang="en-US" sz="1400" b="0" u="none" strike="noStrike">
                <a:solidFill>
                  <a:srgbClr val="000000"/>
                </a:solidFill>
                <a:effectLst/>
                <a:uFillTx/>
                <a:latin typeface="Arial"/>
                <a:ea typeface="Arial"/>
              </a:rPr>
              <a:t>The system continuously adapts to real-time data, including changing prices, new product launches, discounts, and updated customer reviews. By enabling communication between agents, it can recommend better alternatives, detect fake reviews, predict the best time to buy, and alert users about price drops or limited-time offers.</a:t>
            </a:r>
            <a:endParaRPr lang="en-US" sz="14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TextBox 1"/>
          <p:cNvSpPr/>
          <p:nvPr/>
        </p:nvSpPr>
        <p:spPr>
          <a:xfrm>
            <a:off x="777240" y="484560"/>
            <a:ext cx="7122600" cy="4608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Novelty and Uniqueness</a:t>
            </a:r>
            <a:endParaRPr lang="en-US" sz="2400" b="0" u="none" strike="noStrike">
              <a:solidFill>
                <a:srgbClr val="000000"/>
              </a:solidFill>
              <a:effectLst/>
              <a:uFillTx/>
              <a:latin typeface="Arial"/>
            </a:endParaRPr>
          </a:p>
        </p:txBody>
      </p:sp>
      <p:sp>
        <p:nvSpPr>
          <p:cNvPr id="82" name="TextBox 2"/>
          <p:cNvSpPr/>
          <p:nvPr/>
        </p:nvSpPr>
        <p:spPr>
          <a:xfrm>
            <a:off x="777240" y="1207080"/>
            <a:ext cx="11301120" cy="543996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IN" sz="1800" b="0" u="none" strike="noStrike">
                <a:solidFill>
                  <a:srgbClr val="000000"/>
                </a:solidFill>
                <a:effectLst/>
                <a:uFillTx/>
                <a:latin typeface="Arial"/>
                <a:ea typeface="Arial"/>
              </a:rPr>
              <a:t>The proposed Intelligent Shopping Agent stands out by combining Agentic AI, Retrieval-Augmented Generation (RAG), and real-time personalization into a single intelligent shopping ecosystem..</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spcBef>
                <a:spcPts val="1191"/>
              </a:spcBef>
              <a:spcAft>
                <a:spcPts val="992"/>
              </a:spcAft>
            </a:pPr>
            <a:r>
              <a:rPr lang="en-IN" sz="1800" b="1" u="none" strike="noStrike">
                <a:solidFill>
                  <a:srgbClr val="000000"/>
                </a:solidFill>
                <a:effectLst/>
                <a:uFillTx/>
                <a:latin typeface="Arial"/>
                <a:ea typeface="Arial"/>
              </a:rPr>
              <a:t>Multi-Agent Intelligence</a:t>
            </a:r>
            <a:r>
              <a:rPr lang="en-IN" sz="1800" b="0" u="none" strike="noStrike">
                <a:solidFill>
                  <a:srgbClr val="000000"/>
                </a:solidFill>
                <a:effectLst/>
                <a:uFillTx/>
                <a:latin typeface="Arial"/>
                <a:ea typeface="Arial"/>
              </a:rPr>
              <a:t> – Integrates real-time product data from trusted e-commerce platforms, review sources, and pricing databases with AI-generated insights, ensuring reliable and up-to-date recommendations.</a:t>
            </a:r>
            <a:endParaRPr lang="en-US" sz="1800" b="0" u="none" strike="noStrike">
              <a:solidFill>
                <a:srgbClr val="000000"/>
              </a:solidFill>
              <a:effectLst/>
              <a:uFillTx/>
              <a:latin typeface="Arial"/>
            </a:endParaRPr>
          </a:p>
          <a:p>
            <a:pPr>
              <a:lnSpc>
                <a:spcPct val="100000"/>
              </a:lnSpc>
            </a:pPr>
            <a:r>
              <a:rPr lang="en-IN" sz="1800" b="1" u="none" strike="noStrike">
                <a:solidFill>
                  <a:srgbClr val="000000"/>
                </a:solidFill>
                <a:effectLst/>
                <a:uFillTx/>
                <a:latin typeface="Arial"/>
                <a:ea typeface="Arial"/>
              </a:rPr>
              <a:t>RAG-Based Accuracy</a:t>
            </a:r>
            <a:r>
              <a:rPr lang="en-IN" sz="1800" b="0" u="none" strike="noStrike">
                <a:solidFill>
                  <a:srgbClr val="000000"/>
                </a:solidFill>
                <a:effectLst/>
                <a:uFillTx/>
                <a:latin typeface="Arial"/>
                <a:ea typeface="Arial"/>
              </a:rPr>
              <a:t> – Integrates real-time data retrieval with AI generation, reducing misinformation and ensuring trustworthy recommendations. </a:t>
            </a:r>
            <a:endParaRPr lang="en-US" sz="1800" b="0" u="none" strike="noStrike">
              <a:solidFill>
                <a:srgbClr val="000000"/>
              </a:solidFill>
              <a:effectLst/>
              <a:uFillTx/>
              <a:latin typeface="Arial"/>
            </a:endParaRPr>
          </a:p>
          <a:p>
            <a:pPr>
              <a:lnSpc>
                <a:spcPct val="100000"/>
              </a:lnSpc>
              <a:spcBef>
                <a:spcPts val="1191"/>
              </a:spcBef>
              <a:spcAft>
                <a:spcPts val="992"/>
              </a:spcAft>
            </a:pPr>
            <a:r>
              <a:rPr lang="en-IN" sz="1800" b="1" u="none" strike="noStrike">
                <a:solidFill>
                  <a:srgbClr val="000000"/>
                </a:solidFill>
                <a:effectLst/>
                <a:uFillTx/>
                <a:latin typeface="Arial"/>
                <a:ea typeface="Arial"/>
              </a:rPr>
              <a:t>Hyper-Personalization</a:t>
            </a:r>
            <a:r>
              <a:rPr lang="en-IN" sz="1800" b="0" u="none" strike="noStrike">
                <a:solidFill>
                  <a:srgbClr val="000000"/>
                </a:solidFill>
                <a:effectLst/>
                <a:uFillTx/>
                <a:latin typeface="Arial"/>
                <a:ea typeface="Arial"/>
              </a:rPr>
              <a:t> – Tailors product suggestions based on user preferences, budget, brand choices, shopping history, lifestyle, and sustainability priorities.</a:t>
            </a:r>
            <a:endParaRPr lang="en-US" sz="1800" b="0" u="none" strike="noStrike">
              <a:solidFill>
                <a:srgbClr val="000000"/>
              </a:solidFill>
              <a:effectLst/>
              <a:uFillTx/>
              <a:latin typeface="Arial"/>
            </a:endParaRPr>
          </a:p>
          <a:p>
            <a:pPr>
              <a:lnSpc>
                <a:spcPct val="100000"/>
              </a:lnSpc>
              <a:spcBef>
                <a:spcPts val="1191"/>
              </a:spcBef>
              <a:spcAft>
                <a:spcPts val="992"/>
              </a:spcAft>
            </a:pPr>
            <a:r>
              <a:rPr lang="en-IN" sz="1800" b="1" u="none" strike="noStrike">
                <a:solidFill>
                  <a:srgbClr val="000000"/>
                </a:solidFill>
                <a:effectLst/>
                <a:uFillTx/>
                <a:latin typeface="Arial"/>
                <a:ea typeface="Arial"/>
              </a:rPr>
              <a:t>Real-Time Feedback Loop</a:t>
            </a:r>
            <a:r>
              <a:rPr lang="en-IN" sz="1800" b="0" u="none" strike="noStrike">
                <a:solidFill>
                  <a:srgbClr val="000000"/>
                </a:solidFill>
                <a:effectLst/>
                <a:uFillTx/>
                <a:latin typeface="Arial"/>
                <a:ea typeface="Arial"/>
              </a:rPr>
              <a:t> – Continuously monitors price changes, seasonal offers, discounts, and product availability to recommend the best time to purchase and alert users about price drops.</a:t>
            </a:r>
            <a:endParaRPr lang="en-US" sz="1800" b="0" u="none" strike="noStrike">
              <a:solidFill>
                <a:srgbClr val="000000"/>
              </a:solidFill>
              <a:effectLst/>
              <a:uFillTx/>
              <a:latin typeface="Arial"/>
            </a:endParaRPr>
          </a:p>
          <a:p>
            <a:pPr>
              <a:lnSpc>
                <a:spcPct val="100000"/>
              </a:lnSpc>
              <a:spcBef>
                <a:spcPts val="1191"/>
              </a:spcBef>
              <a:spcAft>
                <a:spcPts val="992"/>
              </a:spcAft>
            </a:pPr>
            <a:r>
              <a:rPr lang="en-IN" sz="1800" b="1" u="none" strike="noStrike">
                <a:solidFill>
                  <a:srgbClr val="000000"/>
                </a:solidFill>
                <a:effectLst/>
                <a:uFillTx/>
                <a:latin typeface="Arial"/>
                <a:ea typeface="Arial"/>
              </a:rPr>
              <a:t>Multi-Modal Input</a:t>
            </a:r>
            <a:r>
              <a:rPr lang="en-IN" sz="1800" b="0" u="none" strike="noStrike">
                <a:solidFill>
                  <a:srgbClr val="000000"/>
                </a:solidFill>
                <a:effectLst/>
                <a:uFillTx/>
                <a:latin typeface="Arial"/>
                <a:ea typeface="Arial"/>
              </a:rPr>
              <a:t> – Supports text, voice, and image-basedproduct searches, allowing users to easily find products using natural interactions. </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Google Shape;278;p18"/>
          <p:cNvSpPr/>
          <p:nvPr/>
        </p:nvSpPr>
        <p:spPr>
          <a:xfrm>
            <a:off x="1218600" y="420840"/>
            <a:ext cx="6443640" cy="70344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Git Hub Link</a:t>
            </a:r>
            <a:endParaRPr lang="en-US" sz="2400" b="0" u="none" strike="noStrike">
              <a:solidFill>
                <a:srgbClr val="000000"/>
              </a:solidFill>
              <a:effectLst/>
              <a:uFillTx/>
              <a:latin typeface="Arial"/>
            </a:endParaRPr>
          </a:p>
        </p:txBody>
      </p:sp>
      <p:sp>
        <p:nvSpPr>
          <p:cNvPr id="84" name="Google Shape;279;p18"/>
          <p:cNvSpPr/>
          <p:nvPr/>
        </p:nvSpPr>
        <p:spPr>
          <a:xfrm>
            <a:off x="1218600" y="1153800"/>
            <a:ext cx="9213840" cy="427644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https://chirayu-ck.github.io/Commerce-Site/</a:t>
            </a:r>
            <a:endParaRPr lang="en-US" sz="1850" b="0" u="none" strike="noStrike">
              <a:solidFill>
                <a:srgbClr val="000000"/>
              </a:solidFill>
              <a:effectLst/>
              <a:uFillTx/>
              <a:latin typeface="Arial"/>
            </a:endParaRPr>
          </a:p>
        </p:txBody>
      </p:sp>
      <p:sp>
        <p:nvSpPr>
          <p:cNvPr id="85" name="Google Shape;280;p18"/>
          <p:cNvSpPr/>
          <p:nvPr/>
        </p:nvSpPr>
        <p:spPr>
          <a:xfrm>
            <a:off x="1218600" y="336024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86" name="Google Shape;281;p18"/>
          <p:cNvSpPr/>
          <p:nvPr/>
        </p:nvSpPr>
        <p:spPr>
          <a:xfrm>
            <a:off x="1218600" y="439560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87" name="Google Shape;282;p18"/>
          <p:cNvSpPr/>
          <p:nvPr/>
        </p:nvSpPr>
        <p:spPr>
          <a:xfrm>
            <a:off x="1218600" y="5430600"/>
            <a:ext cx="7467840" cy="3823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Google Shape;278;p18"/>
          <p:cNvSpPr/>
          <p:nvPr/>
        </p:nvSpPr>
        <p:spPr>
          <a:xfrm>
            <a:off x="1218600" y="420840"/>
            <a:ext cx="6443640" cy="70344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Future Scope </a:t>
            </a:r>
            <a:endParaRPr lang="en-US" sz="2400" b="0" u="none" strike="noStrike">
              <a:solidFill>
                <a:srgbClr val="000000"/>
              </a:solidFill>
              <a:effectLst/>
              <a:uFillTx/>
              <a:latin typeface="Arial"/>
            </a:endParaRPr>
          </a:p>
        </p:txBody>
      </p:sp>
      <p:sp>
        <p:nvSpPr>
          <p:cNvPr id="89" name="Google Shape;279;p18"/>
          <p:cNvSpPr/>
          <p:nvPr/>
        </p:nvSpPr>
        <p:spPr>
          <a:xfrm>
            <a:off x="1218600" y="1221840"/>
            <a:ext cx="9213840" cy="4276440"/>
          </a:xfrm>
          <a:prstGeom prst="rect">
            <a:avLst/>
          </a:prstGeom>
          <a:noFill/>
          <a:ln w="0">
            <a:noFill/>
          </a:ln>
        </p:spPr>
        <p:style>
          <a:lnRef idx="0"/>
          <a:fillRef idx="0"/>
          <a:effectRef idx="0"/>
          <a:fontRef idx="minor"/>
        </p:style>
        <p:txBody>
          <a:bodyPr lIns="0" tIns="0" rIns="0" bIns="0" anchor="t">
            <a:noAutofit/>
          </a:bodyPr>
          <a:p>
            <a:pPr>
              <a:lnSpc>
                <a:spcPct val="162000"/>
              </a:lnSpc>
              <a:spcBef>
                <a:spcPts val="1191"/>
              </a:spcBef>
              <a:spcAft>
                <a:spcPts val="992"/>
              </a:spcAft>
              <a:tabLst>
                <a:tab pos="0" algn="l"/>
              </a:tabLst>
            </a:pPr>
            <a:r>
              <a:rPr lang="en-US" sz="1850" b="1" u="none" strike="noStrike">
                <a:solidFill>
                  <a:srgbClr val="2B3541"/>
                </a:solidFill>
                <a:effectLst/>
                <a:uFillTx/>
                <a:latin typeface="Times New Roman"/>
                <a:ea typeface="Times New Roman"/>
              </a:rPr>
              <a:t>1.Integration with E-commerce Platforms &amp; Price Tracking</a:t>
            </a:r>
            <a:endParaRPr lang="en-US" sz="1850" b="0" u="none" strike="noStrike">
              <a:solidFill>
                <a:srgbClr val="000000"/>
              </a:solidFill>
              <a:effectLst/>
              <a:uFillTx/>
              <a:latin typeface="Arial"/>
            </a:endParaRPr>
          </a:p>
          <a:p>
            <a:pPr>
              <a:lnSpc>
                <a:spcPct val="162000"/>
              </a:lnSpc>
              <a:spcBef>
                <a:spcPts val="1191"/>
              </a:spcBef>
              <a:spcAft>
                <a:spcPts val="992"/>
              </a:spcAft>
              <a:tabLst>
                <a:tab pos="0" algn="l"/>
              </a:tabLst>
            </a:pPr>
            <a:r>
              <a:rPr lang="en-US" sz="1850" b="0" u="none" strike="noStrike">
                <a:solidFill>
                  <a:srgbClr val="2B3541"/>
                </a:solidFill>
                <a:effectLst/>
                <a:uFillTx/>
                <a:latin typeface="Times New Roman"/>
                <a:ea typeface="Times New Roman"/>
              </a:rPr>
              <a:t>The system can be integrated with major e-commerce platforms to retrieve real-time product availability, pricing, discounts, and delivery information. This will enable the Intelligent Shopping Agent to monitor price fluctuations, notify users about price drops, and recommend the best time to purchase based on historical trends and seasonal offers.</a:t>
            </a:r>
            <a:endParaRPr lang="en-US" sz="1850" b="0" u="none" strike="noStrike">
              <a:solidFill>
                <a:srgbClr val="000000"/>
              </a:solidFill>
              <a:effectLst/>
              <a:uFillTx/>
              <a:latin typeface="Arial"/>
            </a:endParaRPr>
          </a:p>
          <a:p>
            <a:pPr>
              <a:lnSpc>
                <a:spcPct val="162000"/>
              </a:lnSpc>
              <a:tabLst>
                <a:tab pos="0" algn="l"/>
              </a:tabLst>
            </a:pPr>
            <a:r>
              <a:rPr lang="en-US" sz="1850" b="1" u="none" strike="noStrike">
                <a:solidFill>
                  <a:srgbClr val="2B3541"/>
                </a:solidFill>
                <a:effectLst/>
                <a:uFillTx/>
                <a:latin typeface="Times New Roman"/>
                <a:ea typeface="Times New Roman"/>
              </a:rPr>
              <a:t>2.AI-Powered Voice Assistant &amp; Multilingual Support </a:t>
            </a:r>
            <a:r>
              <a:rPr lang="en-US" sz="1850" b="0" u="none" strike="noStrike">
                <a:solidFill>
                  <a:srgbClr val="2B3541"/>
                </a:solidFill>
                <a:effectLst/>
                <a:uFillTx/>
                <a:latin typeface="Times New Roman"/>
                <a:ea typeface="Times New Roman"/>
              </a:rPr>
              <a:t>– </a:t>
            </a:r>
            <a:endParaRPr lang="en-US" sz="1850" b="0" u="none" strike="noStrike">
              <a:solidFill>
                <a:srgbClr val="000000"/>
              </a:solidFill>
              <a:effectLst/>
              <a:uFillTx/>
              <a:latin typeface="Arial"/>
            </a:endParaRPr>
          </a:p>
          <a:p>
            <a:pPr>
              <a:lnSpc>
                <a:spcPct val="162000"/>
              </a:lnSpc>
              <a:spcBef>
                <a:spcPts val="1191"/>
              </a:spcBef>
              <a:spcAft>
                <a:spcPts val="992"/>
              </a:spcAft>
              <a:tabLst>
                <a:tab pos="0" algn="l"/>
              </a:tabLst>
            </a:pPr>
            <a:r>
              <a:rPr lang="en-US" sz="1850" b="0" u="none" strike="noStrike">
                <a:solidFill>
                  <a:srgbClr val="2B3541"/>
                </a:solidFill>
                <a:effectLst/>
                <a:uFillTx/>
                <a:latin typeface="Times New Roman"/>
                <a:ea typeface="Times New Roman"/>
              </a:rPr>
              <a:t>Enhancing the system with a voice-enabled shopping assistant and multilingual support will improve accessibility and user experience. Users can search products, compare prices, and receive personalized shopping recommendations using natural voice conversations in their preferred language, making the solution more inclusive and convenient for a diverse user base.</a:t>
            </a:r>
            <a:endParaRPr lang="en-US" sz="1850" b="0" u="none" strike="noStrike">
              <a:solidFill>
                <a:srgbClr val="000000"/>
              </a:solidFill>
              <a:effectLst/>
              <a:uFillTx/>
              <a:latin typeface="Arial"/>
            </a:endParaRPr>
          </a:p>
        </p:txBody>
      </p:sp>
      <p:sp>
        <p:nvSpPr>
          <p:cNvPr id="90" name="Google Shape;280;p18"/>
          <p:cNvSpPr/>
          <p:nvPr/>
        </p:nvSpPr>
        <p:spPr>
          <a:xfrm>
            <a:off x="1218600" y="336024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91" name="Google Shape;281;p18"/>
          <p:cNvSpPr/>
          <p:nvPr/>
        </p:nvSpPr>
        <p:spPr>
          <a:xfrm>
            <a:off x="1218600" y="4395600"/>
            <a:ext cx="7467840" cy="76536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92" name="Google Shape;282;p18"/>
          <p:cNvSpPr/>
          <p:nvPr/>
        </p:nvSpPr>
        <p:spPr>
          <a:xfrm>
            <a:off x="1218600" y="5430600"/>
            <a:ext cx="7467840" cy="3823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Box 5"/>
          <p:cNvSpPr/>
          <p:nvPr/>
        </p:nvSpPr>
        <p:spPr>
          <a:xfrm>
            <a:off x="327960" y="207360"/>
            <a:ext cx="6095160" cy="67644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400" b="1" u="none" strike="noStrike">
                <a:solidFill>
                  <a:srgbClr val="000000"/>
                </a:solidFill>
                <a:effectLst/>
                <a:uFillTx/>
                <a:latin typeface="Arial"/>
                <a:ea typeface="Arial"/>
              </a:rPr>
              <a:t>Certificates Earned:</a:t>
            </a:r>
            <a:endParaRPr lang="en-US" sz="2400" b="0" u="none" strike="noStrike">
              <a:solidFill>
                <a:srgbClr val="000000"/>
              </a:solidFill>
              <a:effectLst/>
              <a:uFillTx/>
              <a:latin typeface="Arial"/>
            </a:endParaRPr>
          </a:p>
          <a:p>
            <a:pPr algn="ctr">
              <a:lnSpc>
                <a:spcPct val="100000"/>
              </a:lnSpc>
            </a:pPr>
            <a:endParaRPr lang="en-US" sz="1400" b="0" u="none" strike="noStrike">
              <a:solidFill>
                <a:srgbClr val="000000"/>
              </a:solidFill>
              <a:effectLst/>
              <a:uFillTx/>
              <a:latin typeface="Arial"/>
            </a:endParaRPr>
          </a:p>
        </p:txBody>
      </p:sp>
      <p:sp>
        <p:nvSpPr>
          <p:cNvPr id="94" name="TextBox 2"/>
          <p:cNvSpPr/>
          <p:nvPr/>
        </p:nvSpPr>
        <p:spPr>
          <a:xfrm>
            <a:off x="551880" y="690120"/>
            <a:ext cx="6389280" cy="51732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800" b="1" u="none" strike="noStrike">
                <a:solidFill>
                  <a:srgbClr val="000000"/>
                </a:solidFill>
                <a:effectLst/>
                <a:uFillTx/>
                <a:latin typeface="Arial"/>
                <a:ea typeface="Arial"/>
              </a:rPr>
              <a:t>Please  add your creadly certificate </a:t>
            </a:r>
            <a:endParaRPr lang="en-US" sz="2800" b="0" u="none" strike="noStrike">
              <a:solidFill>
                <a:srgbClr val="000000"/>
              </a:solidFill>
              <a:effectLst/>
              <a:uFillTx/>
              <a:latin typeface="Arial"/>
            </a:endParaRPr>
          </a:p>
        </p:txBody>
      </p:sp>
      <p:pic>
        <p:nvPicPr>
          <p:cNvPr id="95" name="Picture 3" descr="A screen shot of a computer&#10;&#10;AI-generated content may be incorrect."/>
          <p:cNvPicPr/>
          <p:nvPr/>
        </p:nvPicPr>
        <p:blipFill>
          <a:blip r:embed="rId1"/>
          <a:stretch/>
        </p:blipFill>
        <p:spPr>
          <a:xfrm>
            <a:off x="2553480" y="1343520"/>
            <a:ext cx="7074360" cy="53085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 name="Picture 3" descr="A certificate with red text&#10;&#10;AI-generated content may be incorrect."/>
          <p:cNvPicPr/>
          <p:nvPr/>
        </p:nvPicPr>
        <p:blipFill>
          <a:blip r:embed="rId1"/>
          <a:srcRect l="0" t="0" r="130" b="-190"/>
          <a:stretch/>
        </p:blipFill>
        <p:spPr>
          <a:xfrm>
            <a:off x="2512800" y="1712520"/>
            <a:ext cx="7176960" cy="4657680"/>
          </a:xfrm>
          <a:prstGeom prst="rect">
            <a:avLst/>
          </a:prstGeom>
          <a:noFill/>
          <a:ln w="0">
            <a:noFill/>
          </a:ln>
        </p:spPr>
      </p:pic>
      <p:sp>
        <p:nvSpPr>
          <p:cNvPr id="97" name="TextBox 4"/>
          <p:cNvSpPr/>
          <p:nvPr/>
        </p:nvSpPr>
        <p:spPr>
          <a:xfrm>
            <a:off x="176760" y="226440"/>
            <a:ext cx="6095160" cy="67644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400" b="1" u="none" strike="noStrike">
                <a:solidFill>
                  <a:srgbClr val="000000"/>
                </a:solidFill>
                <a:effectLst/>
                <a:uFillTx/>
                <a:latin typeface="Arial"/>
                <a:ea typeface="Arial"/>
              </a:rPr>
              <a:t>Certificates Earned:</a:t>
            </a:r>
            <a:r>
              <a:rPr lang="en-US" sz="2400" b="0" u="none" strike="noStrike">
                <a:solidFill>
                  <a:srgbClr val="000000"/>
                </a:solidFill>
                <a:effectLst/>
                <a:uFillTx/>
                <a:latin typeface="Arial"/>
                <a:ea typeface="Arial"/>
              </a:rPr>
              <a:t>​</a:t>
            </a:r>
            <a:endParaRPr lang="en-US" sz="2400" b="0" u="none" strike="noStrike">
              <a:solidFill>
                <a:srgbClr val="000000"/>
              </a:solidFill>
              <a:effectLst/>
              <a:uFillTx/>
              <a:latin typeface="Arial"/>
            </a:endParaRPr>
          </a:p>
          <a:p>
            <a:pPr algn="ctr">
              <a:lnSpc>
                <a:spcPct val="100000"/>
              </a:lnSpc>
            </a:pPr>
            <a:endParaRPr lang="en-US" sz="1400" b="0" u="none" strike="noStrike">
              <a:solidFill>
                <a:srgbClr val="000000"/>
              </a:solidFill>
              <a:effectLst/>
              <a:uFillTx/>
              <a:latin typeface="Arial"/>
            </a:endParaRPr>
          </a:p>
        </p:txBody>
      </p:sp>
      <p:sp>
        <p:nvSpPr>
          <p:cNvPr id="98" name="TextBox 5"/>
          <p:cNvSpPr/>
          <p:nvPr/>
        </p:nvSpPr>
        <p:spPr>
          <a:xfrm>
            <a:off x="496800" y="800640"/>
            <a:ext cx="5437080" cy="399240"/>
          </a:xfrm>
          <a:prstGeom prst="rect">
            <a:avLst/>
          </a:prstGeom>
          <a:noFill/>
          <a:ln w="0">
            <a:noFill/>
          </a:ln>
        </p:spPr>
        <p:style>
          <a:lnRef idx="0"/>
          <a:fillRef idx="0"/>
          <a:effectRef idx="0"/>
          <a:fontRef idx="minor"/>
        </p:style>
        <p:txBody>
          <a:bodyPr numCol="1" spcCol="0" horzOverflow="overflow" lIns="90000" tIns="45000" rIns="90000" bIns="45000" anchor="t">
            <a:spAutoFit/>
          </a:bodyPr>
          <a:p>
            <a:pPr>
              <a:lnSpc>
                <a:spcPct val="100000"/>
              </a:lnSpc>
            </a:pPr>
            <a:r>
              <a:rPr lang="en-US" sz="2000" b="1" u="none" strike="noStrike">
                <a:solidFill>
                  <a:srgbClr val="000000"/>
                </a:solidFill>
                <a:effectLst/>
                <a:uFillTx/>
                <a:latin typeface="Arial"/>
                <a:ea typeface="Arial"/>
              </a:rPr>
              <a:t>Add your IBM BOB Certificate</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9" name="Google Shape;310;p20"/>
          <p:cNvPicPr/>
          <p:nvPr/>
        </p:nvPicPr>
        <p:blipFill>
          <a:blip r:embed="rId1"/>
          <a:stretch/>
        </p:blipFill>
        <p:spPr>
          <a:xfrm>
            <a:off x="0" y="2190240"/>
            <a:ext cx="12191400" cy="24768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LibreOffice/26.2.4.2$Linux_X86_64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en-US</dc:language>
  <cp:lastModifiedBy/>
  <dcterms:modified xsi:type="dcterms:W3CDTF">2026-07-15T09:50:14Z</dcterms:modified>
  <cp:revision>16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16</vt:i4>
  </property>
</Properties>
</file>